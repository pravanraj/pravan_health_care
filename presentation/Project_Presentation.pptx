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5" dt="2026-10-13T03:23:04.407"/>
    <p1510:client id="{F8E3D2B8-DBF5-4487-92A1-DEAE43834D81}" v="147" dt="2026-10-13T04:15:05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23960" y="0"/>
            <a:ext cx="3364992" cy="6858000"/>
          </a:xfrm>
          <a:prstGeom prst="rect">
            <a:avLst/>
          </a:prstGeom>
          <a:solidFill>
            <a:srgbClr val="163154"/>
          </a:solidFill>
          <a:ln>
            <a:solidFill>
              <a:srgbClr val="163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35440" y="685800"/>
            <a:ext cx="2194560" cy="1234440"/>
          </a:xfrm>
          <a:prstGeom prst="roundRect">
            <a:avLst>
              <a:gd name="adj" fmla="val 12000"/>
            </a:avLst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2148840"/>
            <a:ext cx="1508760" cy="150876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52560" y="3977639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235278"/>
          </a:solidFill>
          <a:ln>
            <a:solidFill>
              <a:srgbClr val="23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566928"/>
            <a:ext cx="71323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60BECD"/>
                </a:solidFill>
                <a:latin typeface="Aptos"/>
              </a:defRPr>
            </a:pPr>
            <a:r>
              <a:t>CAPSTONE PROJECT  /  SYSTEM DESIGN &amp;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61872"/>
            <a:ext cx="7315200" cy="1417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Healthcare Patient</a:t>
            </a:r>
          </a:p>
          <a:p>
            <a:pPr algn="l">
              <a:spcAft>
                <a:spcPts val="3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07792"/>
            <a:ext cx="658368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CDDDED"/>
                </a:solidFill>
                <a:latin typeface="Aptos"/>
              </a:defRPr>
            </a:pPr>
            <a:r>
              <a:t>Comprehensive Capstone Project Review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3584448"/>
            <a:ext cx="6446520" cy="0"/>
          </a:xfrm>
          <a:prstGeom prst="line">
            <a:avLst/>
          </a:prstGeom>
          <a:ln w="2540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3886200"/>
            <a:ext cx="214884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71,518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2"/>
            <a:ext cx="214884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60BECD"/>
                </a:solidFill>
                <a:latin typeface="Aptos"/>
              </a:defRPr>
            </a:pPr>
            <a:r>
              <a:t>PATIENT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886200"/>
            <a:ext cx="214884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101,766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370832"/>
            <a:ext cx="214884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60BECD"/>
                </a:solidFill>
                <a:latin typeface="Aptos"/>
              </a:defRPr>
            </a:pPr>
            <a:r>
              <a:t>ENCOUNTERS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69280"/>
            <a:ext cx="7498079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FastAPI   •   Streamlit   •   SQLite   •   Python 3.x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26480"/>
            <a:ext cx="7498079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B9CCE1"/>
                </a:solidFill>
                <a:latin typeface="Aptos"/>
              </a:defRPr>
            </a:pPr>
            <a:r>
              <a:t>A data-driven platform for patient records, clinical analytics and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88136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442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786384"/>
            <a:ext cx="658368" cy="50292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694944"/>
            <a:ext cx="97840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37182"/>
                </a:solidFill>
                <a:latin typeface="Aptos"/>
              </a:defRPr>
            </a:pPr>
            <a:r>
              <a:t>Scope, implementation objectives and measurable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1016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2179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HEALTHCARE PATIENT MANAGEMENT SYSTEM  •  CAPSTONE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74536"/>
            <a:ext cx="9601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37182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078992"/>
            <a:ext cx="5486400" cy="5074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" y="1078992"/>
            <a:ext cx="64008" cy="5074920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197864"/>
            <a:ext cx="5193792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442"/>
                </a:solidFill>
                <a:latin typeface="Aptos"/>
              </a:defRPr>
            </a:pPr>
            <a:r>
              <a:t>Core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1719072"/>
            <a:ext cx="4892040" cy="4069080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A3544"/>
                </a:solidFill>
                <a:latin typeface="Aptos"/>
              </a:defRPr>
            </a:pPr>
            <a:r>
              <a:t>•  Full CRUD operations across patient records</a:t>
            </a:r>
          </a:p>
          <a:p>
            <a:pPr>
              <a:spcAft>
                <a:spcPts val="700"/>
              </a:spcAft>
              <a:defRPr sz="1400">
                <a:solidFill>
                  <a:srgbClr val="2A3544"/>
                </a:solidFill>
                <a:latin typeface="Aptos"/>
              </a:defRPr>
            </a:pPr>
            <a:r>
              <a:t>•  ETL pipeline for 100k+ source records</a:t>
            </a:r>
          </a:p>
          <a:p>
            <a:pPr>
              <a:spcAft>
                <a:spcPts val="700"/>
              </a:spcAft>
              <a:defRPr sz="1400">
                <a:solidFill>
                  <a:srgbClr val="2A3544"/>
                </a:solidFill>
                <a:latin typeface="Aptos"/>
              </a:defRPr>
            </a:pPr>
            <a:r>
              <a:t>•  Role-based access control across 3 tiers</a:t>
            </a:r>
          </a:p>
          <a:p>
            <a:pPr>
              <a:spcAft>
                <a:spcPts val="700"/>
              </a:spcAft>
              <a:defRPr sz="1400">
                <a:solidFill>
                  <a:srgbClr val="2A3544"/>
                </a:solidFill>
                <a:latin typeface="Aptos"/>
              </a:defRPr>
            </a:pPr>
            <a:r>
              <a:t>•  Interactive analytics dashboard with cached queries</a:t>
            </a:r>
          </a:p>
          <a:p>
            <a:pPr>
              <a:spcAft>
                <a:spcPts val="700"/>
              </a:spcAft>
              <a:defRPr sz="1400">
                <a:solidFill>
                  <a:srgbClr val="2A3544"/>
                </a:solidFill>
                <a:latin typeface="Aptos"/>
              </a:defRPr>
            </a:pPr>
            <a:r>
              <a:t>•  20+ REST API endpoints for application workflows</a:t>
            </a:r>
          </a:p>
          <a:p>
            <a:pPr>
              <a:spcAft>
                <a:spcPts val="700"/>
              </a:spcAft>
              <a:defRPr sz="1400">
                <a:solidFill>
                  <a:srgbClr val="2A3544"/>
                </a:solidFill>
                <a:latin typeface="Aptos"/>
              </a:defRPr>
            </a:pPr>
            <a:r>
              <a:t>•  Automated data quality checks before loading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115568"/>
            <a:ext cx="5212080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637182"/>
                </a:solidFill>
                <a:latin typeface="Aptos"/>
              </a:defRPr>
            </a:pPr>
            <a:r>
              <a:t>KEY DELIVERY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72768"/>
            <a:ext cx="235915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572768"/>
            <a:ext cx="2359152" cy="64008"/>
          </a:xfrm>
          <a:prstGeom prst="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737360"/>
            <a:ext cx="2139696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2A69B4"/>
                </a:solidFill>
                <a:latin typeface="Aptos"/>
              </a:defRPr>
            </a:pPr>
            <a:r>
              <a:t>71.5K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258568"/>
            <a:ext cx="2139696" cy="3017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patients loaded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8" y="1572768"/>
            <a:ext cx="235915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79408" y="1572768"/>
            <a:ext cx="2359152" cy="64008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89136" y="1737360"/>
            <a:ext cx="2139696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009196"/>
                </a:solidFill>
                <a:latin typeface="Aptos"/>
              </a:defRPr>
            </a:pPr>
            <a:r>
              <a:t>101.7K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258568"/>
            <a:ext cx="2139696" cy="3017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encounters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90088"/>
            <a:ext cx="235915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2990088"/>
            <a:ext cx="2359152" cy="64008"/>
          </a:xfrm>
          <a:prstGeom prst="rect">
            <a:avLst/>
          </a:prstGeom>
          <a:solidFill>
            <a:srgbClr val="2F8F61"/>
          </a:solidFill>
          <a:ln>
            <a:solidFill>
              <a:srgbClr val="2F8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3154680"/>
            <a:ext cx="2139696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2F8F61"/>
                </a:solidFill>
                <a:latin typeface="Aptos"/>
              </a:defRPr>
            </a:pPr>
            <a:r>
              <a:t>20+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675887"/>
            <a:ext cx="2139696" cy="3017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API endpoints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9408" y="2990088"/>
            <a:ext cx="235915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979408" y="2990088"/>
            <a:ext cx="2359152" cy="64008"/>
          </a:xfrm>
          <a:prstGeom prst="rect">
            <a:avLst/>
          </a:prstGeom>
          <a:solidFill>
            <a:srgbClr val="E1992F"/>
          </a:solidFill>
          <a:ln>
            <a:solidFill>
              <a:srgbClr val="E19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89136" y="3154680"/>
            <a:ext cx="2139696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E1992F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3675887"/>
            <a:ext cx="2139696" cy="3017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reported cleanliness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407408"/>
            <a:ext cx="235915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4407408"/>
            <a:ext cx="2359152" cy="64008"/>
          </a:xfrm>
          <a:prstGeom prst="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0528" y="4572000"/>
            <a:ext cx="2139696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2A69B4"/>
                </a:solidFill>
                <a:latin typeface="Aptos"/>
              </a:defRPr>
            </a:pPr>
            <a:r>
              <a:t>57.2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5093208"/>
            <a:ext cx="2139696" cy="3017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ETL runtime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79408" y="4407408"/>
            <a:ext cx="235915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979408" y="4407408"/>
            <a:ext cx="2359152" cy="64008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89136" y="4572000"/>
            <a:ext cx="2139696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009196"/>
                </a:solidFill>
                <a:latin typeface="Aptos"/>
              </a:defRPr>
            </a:pPr>
            <a:r>
              <a:t>69 MB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5093208"/>
            <a:ext cx="2139696" cy="3017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database size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88136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442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786384"/>
            <a:ext cx="658368" cy="50292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694944"/>
            <a:ext cx="97840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37182"/>
                </a:solidFill>
                <a:latin typeface="Aptos"/>
              </a:defRPr>
            </a:pPr>
            <a:r>
              <a:t>Three-tier application with shared business services and a batch-ingestion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1016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2179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HEALTHCARE PATIENT MANAGEMENT SYSTEM  •  CAPSTONE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74536"/>
            <a:ext cx="9601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37182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2971800" cy="960120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444752"/>
            <a:ext cx="2752344" cy="28346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22442"/>
                </a:solidFill>
                <a:latin typeface="Aptos"/>
              </a:defRPr>
            </a:pPr>
            <a:r>
              <a:t>STREAMLIT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10512"/>
            <a:ext cx="2752344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637182"/>
                </a:solidFill>
                <a:latin typeface="Aptos"/>
              </a:defRPr>
            </a:pPr>
            <a:r>
              <a:t>Port 8501 • UI / dashboards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325880"/>
            <a:ext cx="2971800" cy="960120"/>
          </a:xfrm>
          <a:prstGeom prst="roundRect">
            <a:avLst>
              <a:gd name="adj" fmla="val 12000"/>
            </a:avLst>
          </a:prstGeom>
          <a:solidFill>
            <a:srgbClr val="E1F5F4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444752"/>
            <a:ext cx="2752344" cy="28346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22442"/>
                </a:solidFill>
                <a:latin typeface="Aptos"/>
              </a:defRPr>
            </a:pPr>
            <a:r>
              <a:t>FASTAPI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1810512"/>
            <a:ext cx="2752344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637182"/>
                </a:solidFill>
                <a:latin typeface="Aptos"/>
              </a:defRPr>
            </a:pPr>
            <a:r>
              <a:t>Port 8000 • REST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1325880"/>
            <a:ext cx="2971800" cy="960120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2F8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59367" y="1444752"/>
            <a:ext cx="2752344" cy="28346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22442"/>
                </a:solidFill>
                <a:latin typeface="Aptos"/>
              </a:defRPr>
            </a:pPr>
            <a:r>
              <a:t>SQLITE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7" y="1810512"/>
            <a:ext cx="2752344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637182"/>
                </a:solidFill>
                <a:latin typeface="Aptos"/>
              </a:defRPr>
            </a:pPr>
            <a:r>
              <a:t>healthcare.db • persistence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75887" y="1801368"/>
            <a:ext cx="896113" cy="0"/>
          </a:xfrm>
          <a:prstGeom prst="line">
            <a:avLst/>
          </a:prstGeom>
          <a:ln w="25400">
            <a:solidFill>
              <a:srgbClr val="2A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07808" y="1801368"/>
            <a:ext cx="896112" cy="0"/>
          </a:xfrm>
          <a:prstGeom prst="line">
            <a:avLst/>
          </a:prstGeom>
          <a:ln w="2540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03320" y="1444752"/>
            <a:ext cx="82296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637182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1444752"/>
            <a:ext cx="77724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637182"/>
                </a:solidFill>
                <a:latin typeface="Aptos"/>
              </a:defRPr>
            </a:pPr>
            <a:r>
              <a:t>SQL/ORM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2907792"/>
            <a:ext cx="84124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84831" y="3035808"/>
            <a:ext cx="800100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22442"/>
                </a:solidFill>
                <a:latin typeface="Aptos"/>
              </a:defRPr>
            </a:pPr>
            <a:r>
              <a:t>BUSINESS LOGIC SERVICES  •  RBAC ENFORCEMENT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39696" y="3493008"/>
            <a:ext cx="1764792" cy="475488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76272" y="3566160"/>
            <a:ext cx="1691640" cy="25603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A69B4"/>
                </a:solidFill>
                <a:latin typeface="Aptos"/>
              </a:defRPr>
            </a:pPr>
            <a:r>
              <a:t>Patient 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33087" y="3493008"/>
            <a:ext cx="1764792" cy="475488"/>
          </a:xfrm>
          <a:prstGeom prst="roundRect">
            <a:avLst>
              <a:gd name="adj" fmla="val 12000"/>
            </a:avLst>
          </a:prstGeom>
          <a:solidFill>
            <a:srgbClr val="E1F5F4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69663" y="3566160"/>
            <a:ext cx="1691640" cy="25603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9196"/>
                </a:solidFill>
                <a:latin typeface="Aptos"/>
              </a:defRPr>
            </a:pPr>
            <a:r>
              <a:t>Encounter service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493008"/>
            <a:ext cx="1764792" cy="475488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2F8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63056" y="3566160"/>
            <a:ext cx="1691640" cy="25603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Analytics 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3493008"/>
            <a:ext cx="1764792" cy="475488"/>
          </a:xfrm>
          <a:prstGeom prst="roundRect">
            <a:avLst>
              <a:gd name="adj" fmla="val 12000"/>
            </a:avLst>
          </a:prstGeom>
          <a:solidFill>
            <a:srgbClr val="FCF4E2"/>
          </a:solidFill>
          <a:ln>
            <a:solidFill>
              <a:srgbClr val="E19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56448" y="3566160"/>
            <a:ext cx="1691640" cy="25603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E1992F"/>
                </a:solidFill>
                <a:latin typeface="Aptos"/>
              </a:defRPr>
            </a:pPr>
            <a:r>
              <a:t>Report service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0760" y="2304288"/>
            <a:ext cx="0" cy="548640"/>
          </a:xfrm>
          <a:prstGeom prst="line">
            <a:avLst/>
          </a:prstGeom>
          <a:ln w="2159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12680" y="2304288"/>
            <a:ext cx="0" cy="438912"/>
          </a:xfrm>
          <a:prstGeom prst="line">
            <a:avLst/>
          </a:prstGeom>
          <a:ln w="17780">
            <a:solidFill>
              <a:srgbClr val="2F8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85800" y="4800600"/>
            <a:ext cx="10835640" cy="114300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928616"/>
            <a:ext cx="132588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2442"/>
                </a:solidFill>
                <a:latin typeface="Aptos"/>
              </a:defRPr>
            </a:pPr>
            <a:r>
              <a:t>ETL PIPELINE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40280" y="4956048"/>
            <a:ext cx="16642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286000" y="5010912"/>
            <a:ext cx="1572768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285232"/>
            <a:ext cx="1572768" cy="1828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637182"/>
                </a:solidFill>
                <a:latin typeface="Aptos"/>
              </a:defRPr>
            </a:pPr>
            <a:r>
              <a:t>CSV files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913632" y="5294376"/>
            <a:ext cx="384048" cy="0"/>
          </a:xfrm>
          <a:prstGeom prst="line">
            <a:avLst/>
          </a:prstGeom>
          <a:ln w="16510">
            <a:solidFill>
              <a:srgbClr val="63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389120" y="4956048"/>
            <a:ext cx="16642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34840" y="5010912"/>
            <a:ext cx="1572768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285232"/>
            <a:ext cx="1572768" cy="1828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637182"/>
                </a:solidFill>
                <a:latin typeface="Aptos"/>
              </a:defRPr>
            </a:pPr>
            <a:r>
              <a:t>Pandas cleaning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62472" y="5294376"/>
            <a:ext cx="384048" cy="0"/>
          </a:xfrm>
          <a:prstGeom prst="line">
            <a:avLst/>
          </a:prstGeom>
          <a:ln w="16510">
            <a:solidFill>
              <a:srgbClr val="63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537960" y="4956048"/>
            <a:ext cx="16642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F8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5010912"/>
            <a:ext cx="1572768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285232"/>
            <a:ext cx="1572768" cy="1828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637182"/>
                </a:solidFill>
                <a:latin typeface="Aptos"/>
              </a:defRPr>
            </a:pPr>
            <a:r>
              <a:t>Quality checks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11312" y="5294376"/>
            <a:ext cx="384048" cy="0"/>
          </a:xfrm>
          <a:prstGeom prst="line">
            <a:avLst/>
          </a:prstGeom>
          <a:ln w="16510">
            <a:solidFill>
              <a:srgbClr val="637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686800" y="4956048"/>
            <a:ext cx="16642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9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32520" y="5010912"/>
            <a:ext cx="1572768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5285232"/>
            <a:ext cx="1572768" cy="1828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637182"/>
                </a:solidFill>
                <a:latin typeface="Aptos"/>
              </a:defRPr>
            </a:pPr>
            <a:r>
              <a:t>Batch inserts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287000" y="5285232"/>
            <a:ext cx="502920" cy="0"/>
          </a:xfrm>
          <a:prstGeom prst="line">
            <a:avLst/>
          </a:prstGeom>
          <a:ln w="22860">
            <a:solidFill>
              <a:srgbClr val="2F8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0789920" y="2377440"/>
            <a:ext cx="0" cy="2907792"/>
          </a:xfrm>
          <a:prstGeom prst="line">
            <a:avLst/>
          </a:prstGeom>
          <a:ln w="17780">
            <a:solidFill>
              <a:srgbClr val="2F8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22960" y="6080760"/>
            <a:ext cx="10515600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637182"/>
                </a:solidFill>
                <a:latin typeface="Aptos"/>
              </a:defRPr>
            </a:pPr>
            <a:r>
              <a:t>Request path: UI → API → service/authorization → database     |     Ingestion path: source files → quality gates →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88136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442"/>
                </a:solidFill>
                <a:latin typeface="Aptos"/>
              </a:defRPr>
            </a:pPr>
            <a:r>
              <a:t>ETL pipeline: source to trusted records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786384"/>
            <a:ext cx="658368" cy="50292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694944"/>
            <a:ext cx="97840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37182"/>
                </a:solidFill>
                <a:latin typeface="Aptos"/>
              </a:defRPr>
            </a:pPr>
            <a:r>
              <a:t>A batch-oriented workflow with explicit transformation and validation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1016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2179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HEALTHCARE PATIENT MANAGEMENT SYSTEM  •  CAPSTONE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74536"/>
            <a:ext cx="9601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37182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61872"/>
            <a:ext cx="2542032" cy="1938528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44752"/>
            <a:ext cx="2267712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22442"/>
                </a:solidFill>
                <a:latin typeface="Aptos"/>
              </a:defRPr>
            </a:pPr>
            <a:r>
              <a:t>01  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938528"/>
            <a:ext cx="2249424" cy="6858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100" b="0">
                <a:solidFill>
                  <a:srgbClr val="2A3544"/>
                </a:solidFill>
                <a:latin typeface="Aptos"/>
              </a:defRPr>
            </a:pPr>
            <a:r>
              <a:t>Read diabetic_data.csv</a:t>
            </a:r>
          </a:p>
          <a:p>
            <a:pPr algn="ctr">
              <a:spcAft>
                <a:spcPts val="300"/>
              </a:spcAft>
              <a:defRPr sz="1100" b="0">
                <a:solidFill>
                  <a:srgbClr val="2A3544"/>
                </a:solidFill>
                <a:latin typeface="Aptos"/>
              </a:defRPr>
            </a:pPr>
            <a:r>
              <a:t>101,766 rows + IDS_mapping.csv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70632"/>
            <a:ext cx="2267712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2A69B4"/>
                </a:solidFill>
                <a:latin typeface="Aptos"/>
              </a:defRPr>
            </a:pPr>
            <a:r>
              <a:t>CSV → Pandas DataFrame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2212848"/>
            <a:ext cx="292608" cy="0"/>
          </a:xfrm>
          <a:prstGeom prst="line">
            <a:avLst/>
          </a:prstGeom>
          <a:ln w="25400">
            <a:solidFill>
              <a:srgbClr val="2A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56432" y="1261872"/>
            <a:ext cx="2542032" cy="1938528"/>
          </a:xfrm>
          <a:prstGeom prst="roundRect">
            <a:avLst>
              <a:gd name="adj" fmla="val 12000"/>
            </a:avLst>
          </a:prstGeom>
          <a:solidFill>
            <a:srgbClr val="E1F5F4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2" y="1444752"/>
            <a:ext cx="2267712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22442"/>
                </a:solidFill>
                <a:latin typeface="Aptos"/>
              </a:defRPr>
            </a:pPr>
            <a:r>
              <a:t>02  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1938528"/>
            <a:ext cx="2249424" cy="6858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100" b="0">
                <a:solidFill>
                  <a:srgbClr val="2A3544"/>
                </a:solidFill>
                <a:latin typeface="Aptos"/>
              </a:defRPr>
            </a:pPr>
            <a:r>
              <a:t>Normalize columns, clean values,</a:t>
            </a:r>
          </a:p>
          <a:p>
            <a:pPr algn="ctr">
              <a:spcAft>
                <a:spcPts val="300"/>
              </a:spcAft>
              <a:defRPr sz="1100" b="0">
                <a:solidFill>
                  <a:srgbClr val="2A3544"/>
                </a:solidFill>
                <a:latin typeface="Aptos"/>
              </a:defRPr>
            </a:pPr>
            <a:r>
              <a:t>parse dates and standardize formats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770632"/>
            <a:ext cx="2267712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009196"/>
                </a:solidFill>
                <a:latin typeface="Aptos"/>
              </a:defRPr>
            </a:pPr>
            <a:r>
              <a:t>Typed, canonical records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16752" y="2212848"/>
            <a:ext cx="292608" cy="0"/>
          </a:xfrm>
          <a:prstGeom prst="line">
            <a:avLst/>
          </a:prstGeom>
          <a:ln w="2540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64224" y="1261872"/>
            <a:ext cx="2542032" cy="1938528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2F8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01384" y="1444752"/>
            <a:ext cx="2267712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22442"/>
                </a:solidFill>
                <a:latin typeface="Aptos"/>
              </a:defRPr>
            </a:pPr>
            <a:r>
              <a:t>03  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1938528"/>
            <a:ext cx="2249424" cy="6858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100" b="0">
                <a:solidFill>
                  <a:srgbClr val="2A3544"/>
                </a:solidFill>
                <a:latin typeface="Aptos"/>
              </a:defRPr>
            </a:pPr>
            <a:r>
              <a:t>Schema, nulls, keys, ranges</a:t>
            </a:r>
          </a:p>
          <a:p>
            <a:pPr algn="ctr">
              <a:spcAft>
                <a:spcPts val="300"/>
              </a:spcAft>
              <a:defRPr sz="1100" b="0">
                <a:solidFill>
                  <a:srgbClr val="2A3544"/>
                </a:solidFill>
                <a:latin typeface="Aptos"/>
              </a:defRPr>
            </a:pPr>
            <a:r>
              <a:t>and referential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770632"/>
            <a:ext cx="2267712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2F8F61"/>
                </a:solidFill>
                <a:latin typeface="Aptos"/>
              </a:defRPr>
            </a:pPr>
            <a:r>
              <a:t>Quality gate before load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24544" y="2212848"/>
            <a:ext cx="292608" cy="0"/>
          </a:xfrm>
          <a:prstGeom prst="line">
            <a:avLst/>
          </a:prstGeom>
          <a:ln w="25400">
            <a:solidFill>
              <a:srgbClr val="2F8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72016" y="1261872"/>
            <a:ext cx="2542032" cy="1938528"/>
          </a:xfrm>
          <a:prstGeom prst="roundRect">
            <a:avLst>
              <a:gd name="adj" fmla="val 12000"/>
            </a:avLst>
          </a:prstGeom>
          <a:solidFill>
            <a:srgbClr val="FCF4E2"/>
          </a:solidFill>
          <a:ln>
            <a:solidFill>
              <a:srgbClr val="E19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09176" y="1444752"/>
            <a:ext cx="2267712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22442"/>
                </a:solidFill>
                <a:latin typeface="Aptos"/>
              </a:defRPr>
            </a:pPr>
            <a:r>
              <a:t>04  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1938528"/>
            <a:ext cx="2249424" cy="6858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100" b="0">
                <a:solidFill>
                  <a:srgbClr val="2A3544"/>
                </a:solidFill>
                <a:latin typeface="Aptos"/>
              </a:defRPr>
            </a:pPr>
            <a:r>
              <a:t>SQLAlchemy / SQLite bulk writes</a:t>
            </a:r>
          </a:p>
          <a:p>
            <a:pPr algn="ctr">
              <a:spcAft>
                <a:spcPts val="300"/>
              </a:spcAft>
              <a:defRPr sz="1100" b="0">
                <a:solidFill>
                  <a:srgbClr val="2A3544"/>
                </a:solidFill>
                <a:latin typeface="Aptos"/>
              </a:defRPr>
            </a:pPr>
            <a:r>
              <a:t>10,000-record batches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2770632"/>
            <a:ext cx="2267712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E1992F"/>
                </a:solidFill>
                <a:latin typeface="Aptos"/>
              </a:defRPr>
            </a:pPr>
            <a:r>
              <a:t>Persist to healthcare.db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61188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4360" y="3611880"/>
            <a:ext cx="64008" cy="1417320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3730752"/>
            <a:ext cx="4965192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442"/>
                </a:solidFill>
                <a:latin typeface="Aptos"/>
              </a:defRPr>
            </a:pPr>
            <a:r>
              <a:t>Performance 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4096512"/>
            <a:ext cx="4965192" cy="8503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A3544"/>
                </a:solidFill>
                <a:latin typeface="Aptos"/>
              </a:defRPr>
            </a:pPr>
            <a:r>
              <a:t>57.22 seconds total • 1,779 records/second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A3544"/>
                </a:solidFill>
                <a:latin typeface="Aptos"/>
              </a:defRPr>
            </a:pPr>
            <a:r>
              <a:t>10,000-row batches reduce per-row overhead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3611880"/>
            <a:ext cx="5440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44768" y="3611880"/>
            <a:ext cx="64008" cy="1417320"/>
          </a:xfrm>
          <a:prstGeom prst="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59" y="3730752"/>
            <a:ext cx="5148072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442"/>
                </a:solidFill>
                <a:latin typeface="Aptos"/>
              </a:defRPr>
            </a:pPr>
            <a:r>
              <a:t>Data lineage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4096512"/>
            <a:ext cx="5148072" cy="8503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A3544"/>
                </a:solidFill>
                <a:latin typeface="Aptos"/>
              </a:defRPr>
            </a:pPr>
            <a:r>
              <a:t>Input: diabetic_data.csv + IDS_mapping.csv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A3544"/>
                </a:solidFill>
                <a:latin typeface="Aptos"/>
              </a:defRPr>
            </a:pPr>
            <a:r>
              <a:t>Process: Pandas → SQLAlchemy ORM → SQLite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A3544"/>
                </a:solidFill>
                <a:latin typeface="Aptos"/>
              </a:defRPr>
            </a:pPr>
            <a:r>
              <a:t>Output: healthcare.db (brief reports 590K+ total records)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534924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5468112"/>
            <a:ext cx="10515600" cy="384048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Operational guardrails: validate before insert • log row counts and rejected rows • use transactions • make reruns idempotent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88136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442"/>
                </a:solidFill>
                <a:latin typeface="Aptos"/>
              </a:defRPr>
            </a:pPr>
            <a:r>
              <a:t>Database schema &amp; relational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786384"/>
            <a:ext cx="658368" cy="50292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694944"/>
            <a:ext cx="97840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37182"/>
                </a:solidFill>
                <a:latin typeface="Aptos"/>
              </a:defRPr>
            </a:pPr>
            <a:r>
              <a:t>Six logical entities separate patient demographics, encounters and encounter-level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1016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2179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HEALTHCARE PATIENT MANAGEMENT SYSTEM  •  CAPSTONE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74536"/>
            <a:ext cx="9601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37182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2743200" cy="1325880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417320"/>
            <a:ext cx="242316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442"/>
                </a:solidFill>
                <a:latin typeface="Aptos"/>
              </a:defRPr>
            </a:pPr>
            <a:r>
              <a:t>PATIENT  •  71.5K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46504"/>
            <a:ext cx="2423160" cy="6858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A3544"/>
                </a:solidFill>
                <a:latin typeface="Aptos"/>
              </a:defRPr>
            </a:pPr>
            <a:r>
              <a:t>PK patient_nbr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A3544"/>
                </a:solidFill>
                <a:latin typeface="Aptos"/>
              </a:defRPr>
            </a:pPr>
            <a:r>
              <a:t>race • gender • age_bracket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98448"/>
            <a:ext cx="3108960" cy="1325880"/>
          </a:xfrm>
          <a:prstGeom prst="roundRect">
            <a:avLst>
              <a:gd name="adj" fmla="val 12000"/>
            </a:avLst>
          </a:prstGeom>
          <a:solidFill>
            <a:srgbClr val="E1F5F4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417320"/>
            <a:ext cx="278892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442"/>
                </a:solidFill>
                <a:latin typeface="Aptos"/>
              </a:defRPr>
            </a:pPr>
            <a:r>
              <a:t>ENCOUNTER  •  101.7K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746504"/>
            <a:ext cx="2788920" cy="6858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A3544"/>
                </a:solidFill>
                <a:latin typeface="Aptos"/>
              </a:defRPr>
            </a:pPr>
            <a:r>
              <a:t>PK encounter_id • FK patient_nbr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2A3544"/>
                </a:solidFill>
                <a:latin typeface="Aptos"/>
              </a:defRPr>
            </a:pPr>
            <a:r>
              <a:t>admission/discharge • stay length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73552" y="1938528"/>
            <a:ext cx="1024128" cy="0"/>
          </a:xfrm>
          <a:prstGeom prst="line">
            <a:avLst/>
          </a:prstGeom>
          <a:ln w="22860">
            <a:solidFill>
              <a:srgbClr val="2A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10128" y="1627632"/>
            <a:ext cx="914400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2A69B4"/>
                </a:solidFill>
                <a:latin typeface="Aptos"/>
              </a:defRPr>
            </a:pPr>
            <a:r>
              <a:t>1 : 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67328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3877056"/>
            <a:ext cx="2249424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22442"/>
                </a:solidFill>
                <a:latin typeface="Aptos"/>
              </a:defRPr>
            </a:pPr>
            <a:r>
              <a:t>DIAGNOSIS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169664"/>
            <a:ext cx="2249424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2A69B4"/>
                </a:solidFill>
                <a:latin typeface="Aptos"/>
              </a:defRPr>
            </a:pPr>
            <a:r>
              <a:t>305K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453128"/>
            <a:ext cx="2231136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2A3544"/>
                </a:solidFill>
                <a:latin typeface="Aptos"/>
              </a:defRPr>
            </a:pPr>
            <a:r>
              <a:t>FK encounter_id</a:t>
            </a:r>
          </a:p>
          <a:p>
            <a:pPr algn="ctr">
              <a:spcAft>
                <a:spcPts val="300"/>
              </a:spcAft>
              <a:defRPr sz="900" b="0">
                <a:solidFill>
                  <a:srgbClr val="2A3544"/>
                </a:solidFill>
                <a:latin typeface="Aptos"/>
              </a:defRPr>
            </a:pPr>
            <a:r>
              <a:t>icd9_code • category • sequence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97880" y="2651760"/>
            <a:ext cx="0" cy="502920"/>
          </a:xfrm>
          <a:prstGeom prst="line">
            <a:avLst/>
          </a:prstGeom>
          <a:ln w="1651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37360" y="3154680"/>
            <a:ext cx="0" cy="557783"/>
          </a:xfrm>
          <a:prstGeom prst="line">
            <a:avLst/>
          </a:prstGeom>
          <a:ln w="1651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46120" y="3767328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E1F5F4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55848" y="3877056"/>
            <a:ext cx="2249424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22442"/>
                </a:solidFill>
                <a:latin typeface="Aptos"/>
              </a:defRPr>
            </a:pPr>
            <a:r>
              <a:t>LAB_RESULT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4169664"/>
            <a:ext cx="2249424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009196"/>
                </a:solidFill>
                <a:latin typeface="Aptos"/>
              </a:defRPr>
            </a:pPr>
            <a:r>
              <a:t>101.7K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1" y="4453128"/>
            <a:ext cx="2231136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2A3544"/>
                </a:solidFill>
                <a:latin typeface="Aptos"/>
              </a:defRPr>
            </a:pPr>
            <a:r>
              <a:t>FK encounter_id</a:t>
            </a:r>
          </a:p>
          <a:p>
            <a:pPr algn="ctr">
              <a:spcAft>
                <a:spcPts val="300"/>
              </a:spcAft>
              <a:defRPr sz="900" b="0">
                <a:solidFill>
                  <a:srgbClr val="2A3544"/>
                </a:solidFill>
                <a:latin typeface="Aptos"/>
              </a:defRPr>
            </a:pPr>
            <a:r>
              <a:t>max_glu_serum • a1c_result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97880" y="2651760"/>
            <a:ext cx="0" cy="502920"/>
          </a:xfrm>
          <a:prstGeom prst="line">
            <a:avLst/>
          </a:prstGeom>
          <a:ln w="1651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80560" y="3154680"/>
            <a:ext cx="0" cy="557783"/>
          </a:xfrm>
          <a:prstGeom prst="line">
            <a:avLst/>
          </a:prstGeom>
          <a:ln w="1651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989320" y="3767328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2F8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99048" y="3877056"/>
            <a:ext cx="2249424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22442"/>
                </a:solidFill>
                <a:latin typeface="Aptos"/>
              </a:defRPr>
            </a:pPr>
            <a:r>
              <a:t>MEDICATION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9048" y="4169664"/>
            <a:ext cx="2249424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2F8F61"/>
                </a:solidFill>
                <a:latin typeface="Aptos"/>
              </a:defRPr>
            </a:pPr>
            <a:r>
              <a:t>~500K 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4453128"/>
            <a:ext cx="2231136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2A3544"/>
                </a:solidFill>
                <a:latin typeface="Aptos"/>
              </a:defRPr>
            </a:pPr>
            <a:r>
              <a:t>FK encounter_id</a:t>
            </a:r>
          </a:p>
          <a:p>
            <a:pPr algn="ctr">
              <a:spcAft>
                <a:spcPts val="300"/>
              </a:spcAft>
              <a:defRPr sz="900" b="0">
                <a:solidFill>
                  <a:srgbClr val="2A3544"/>
                </a:solidFill>
                <a:latin typeface="Aptos"/>
              </a:defRPr>
            </a:pPr>
            <a:r>
              <a:t>medication_name • dosage_change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97880" y="2651760"/>
            <a:ext cx="0" cy="502920"/>
          </a:xfrm>
          <a:prstGeom prst="line">
            <a:avLst/>
          </a:prstGeom>
          <a:ln w="1651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23760" y="3154680"/>
            <a:ext cx="0" cy="557783"/>
          </a:xfrm>
          <a:prstGeom prst="line">
            <a:avLst/>
          </a:prstGeom>
          <a:ln w="1651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732520" y="3767328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FCF4E2"/>
          </a:solidFill>
          <a:ln>
            <a:solidFill>
              <a:srgbClr val="E19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42248" y="3877056"/>
            <a:ext cx="2249424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22442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42248" y="4169664"/>
            <a:ext cx="2249424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E1992F"/>
                </a:solidFill>
                <a:latin typeface="Aptos"/>
              </a:defRPr>
            </a:pPr>
            <a:r>
              <a:t>101.7K records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1392" y="4453128"/>
            <a:ext cx="2231136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2A3544"/>
                </a:solidFill>
                <a:latin typeface="Aptos"/>
              </a:defRPr>
            </a:pPr>
            <a:r>
              <a:t>FK encounter_id</a:t>
            </a:r>
          </a:p>
          <a:p>
            <a:pPr algn="ctr">
              <a:spcAft>
                <a:spcPts val="300"/>
              </a:spcAft>
              <a:defRPr sz="900" b="0">
                <a:solidFill>
                  <a:srgbClr val="2A3544"/>
                </a:solidFill>
                <a:latin typeface="Aptos"/>
              </a:defRPr>
            </a:pPr>
            <a:r>
              <a:t>readmitted_30d • is_mortality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897880" y="2651760"/>
            <a:ext cx="0" cy="502920"/>
          </a:xfrm>
          <a:prstGeom prst="line">
            <a:avLst/>
          </a:prstGeom>
          <a:ln w="1651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966960" y="3154680"/>
            <a:ext cx="0" cy="557783"/>
          </a:xfrm>
          <a:prstGeom prst="line">
            <a:avLst/>
          </a:prstGeom>
          <a:ln w="1651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737360" y="3154680"/>
            <a:ext cx="8229600" cy="0"/>
          </a:xfrm>
          <a:prstGeom prst="line">
            <a:avLst/>
          </a:prstGeom>
          <a:ln w="1651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40080" y="5394960"/>
            <a:ext cx="1088136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Integrity rules: unique encounter IDs • patient FK must resolve • index PK/FK join columns • document whether deletes cascade, restrict or soft-delete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88136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442"/>
                </a:solidFill>
                <a:latin typeface="Aptos"/>
              </a:defRPr>
            </a:pPr>
            <a:r>
              <a:t>Role-based access control (RBAC)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786384"/>
            <a:ext cx="658368" cy="50292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694944"/>
            <a:ext cx="97840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37182"/>
                </a:solidFill>
                <a:latin typeface="Aptos"/>
              </a:defRPr>
            </a:pPr>
            <a:r>
              <a:t>Authorize every protected endpoint and record sensitive mutations in an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1016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2179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HEALTHCARE PATIENT MANAGEMENT SYSTEM  •  CAPSTONE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74536"/>
            <a:ext cx="9601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37182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80160"/>
            <a:ext cx="352044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280160"/>
            <a:ext cx="3520440" cy="109728"/>
          </a:xfrm>
          <a:prstGeom prst="rect">
            <a:avLst/>
          </a:prstGeom>
          <a:solidFill>
            <a:srgbClr val="BE4149"/>
          </a:solidFill>
          <a:ln>
            <a:solidFill>
              <a:srgbClr val="BE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554480"/>
            <a:ext cx="3154680" cy="36576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22442"/>
                </a:solidFill>
                <a:latin typeface="Aptos"/>
              </a:defRPr>
            </a:pPr>
            <a:r>
              <a:t>ADMINISTRATOR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89888" y="2029967"/>
            <a:ext cx="1874519" cy="310896"/>
          </a:xfrm>
          <a:prstGeom prst="roundRect">
            <a:avLst>
              <a:gd name="adj" fmla="val 12000"/>
            </a:avLst>
          </a:prstGeom>
          <a:solidFill>
            <a:srgbClr val="FCEBEC"/>
          </a:solidFill>
          <a:ln>
            <a:solidFill>
              <a:srgbClr val="F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043684"/>
            <a:ext cx="1819655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BE4149"/>
                </a:solidFill>
                <a:latin typeface="Aptos"/>
              </a:defRPr>
            </a:pPr>
            <a:r>
              <a:t>FULL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606039"/>
            <a:ext cx="3063240" cy="2606040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Full CRUD across resources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Manage users and role assignments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View system audit logs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Manage ETL runs and data imports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Export data and generate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280160"/>
            <a:ext cx="352044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1280160"/>
            <a:ext cx="3520440" cy="109728"/>
          </a:xfrm>
          <a:prstGeom prst="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1554480"/>
            <a:ext cx="3154680" cy="36576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22442"/>
                </a:solidFill>
                <a:latin typeface="Aptos"/>
              </a:defRPr>
            </a:pPr>
            <a:r>
              <a:t>CLINICAL 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2029967"/>
            <a:ext cx="1874519" cy="310896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E6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93792" y="2043684"/>
            <a:ext cx="1819655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A69B4"/>
                </a:solidFill>
                <a:latin typeface="Aptos"/>
              </a:defRPr>
            </a:pPr>
            <a:r>
              <a:t>CLINICAL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606039"/>
            <a:ext cx="3063240" cy="2606040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Read/write patient records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Create and manage encounters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View clinical analytics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Generate operational reports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No system administration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280160"/>
            <a:ext cx="352044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19872" y="1280160"/>
            <a:ext cx="3520440" cy="109728"/>
          </a:xfrm>
          <a:prstGeom prst="rect">
            <a:avLst/>
          </a:prstGeom>
          <a:solidFill>
            <a:srgbClr val="2F8F61"/>
          </a:solidFill>
          <a:ln>
            <a:solidFill>
              <a:srgbClr val="2F8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2752" y="1554480"/>
            <a:ext cx="3154680" cy="36576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22442"/>
                </a:solidFill>
                <a:latin typeface="Aptos"/>
              </a:defRPr>
            </a:pPr>
            <a:r>
              <a:t>DATA ANALYST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2832" y="2029967"/>
            <a:ext cx="1874519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70264" y="2043684"/>
            <a:ext cx="1819655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READ-ONLY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2606039"/>
            <a:ext cx="3063240" cy="2606040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Read approved patient/encounter data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View analytics and trends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Export CSV / Excel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Generate summary reports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No create, update or delete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779008"/>
            <a:ext cx="10835640" cy="502920"/>
          </a:xfrm>
          <a:prstGeom prst="roundRect">
            <a:avLst>
              <a:gd name="adj" fmla="val 12000"/>
            </a:avLst>
          </a:prstGeom>
          <a:solidFill>
            <a:srgbClr val="122442"/>
          </a:solidFill>
          <a:ln>
            <a:solidFill>
              <a:srgbClr val="122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843016"/>
            <a:ext cx="10469880" cy="32004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Controls: JWT access tokens  •  bcrypt password hashing  •  session expiry  •  per-endpoint role checks  •  audit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88136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442"/>
                </a:solidFill>
                <a:latin typeface="Aptos"/>
              </a:defRPr>
            </a:pPr>
            <a:r>
              <a:t>REST API surface: 20+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786384"/>
            <a:ext cx="658368" cy="50292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694944"/>
            <a:ext cx="97840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37182"/>
                </a:solidFill>
                <a:latin typeface="Aptos"/>
              </a:defRPr>
            </a:pPr>
            <a:r>
              <a:t>Group routes by capability; protect writes and administrative actions with role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1016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2179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HEALTHCARE PATIENT MANAGEMENT SYSTEM  •  CAPSTONE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74536"/>
            <a:ext cx="9601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37182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234440"/>
            <a:ext cx="269748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1362456"/>
            <a:ext cx="24597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AUTHENTICATION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7512" y="1755648"/>
            <a:ext cx="2423160" cy="0"/>
          </a:xfrm>
          <a:prstGeom prst="line">
            <a:avLst/>
          </a:prstGeom>
          <a:ln w="1905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1892808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E6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06524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A69B4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1883664"/>
            <a:ext cx="1865376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/auth/login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121408"/>
            <a:ext cx="1865376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Issue 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32304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E6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2446020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A69B4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2423160"/>
            <a:ext cx="1865376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/auth/refresh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660904"/>
            <a:ext cx="1865376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Refresh token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1234440"/>
            <a:ext cx="292608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47872" y="1362456"/>
            <a:ext cx="26883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PATIENTS • CRUD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66160" y="1755648"/>
            <a:ext cx="2651760" cy="0"/>
          </a:xfrm>
          <a:prstGeom prst="line">
            <a:avLst/>
          </a:prstGeom>
          <a:ln w="19050">
            <a:solidFill>
              <a:srgbClr val="2A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538728" y="1892808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66160" y="1906524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1883664"/>
            <a:ext cx="2093976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/patients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121408"/>
            <a:ext cx="2093976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Paginated 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38728" y="2432304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2446020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2423160"/>
            <a:ext cx="2093976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/patients/{id}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2660904"/>
            <a:ext cx="2093976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Patient detail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38728" y="2971800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E6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66160" y="2985516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A69B4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2962656"/>
            <a:ext cx="2093976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/patients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3200400"/>
            <a:ext cx="2093976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Create patient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38728" y="3511296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E6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66160" y="3525012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A69B4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3502152"/>
            <a:ext cx="2093976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/patients/{id}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3739896"/>
            <a:ext cx="2093976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Update patient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38728" y="4050791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E6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66160" y="4064507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A69B4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4041648"/>
            <a:ext cx="2093976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/patients/{id}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4279392"/>
            <a:ext cx="2093976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Delete patient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56248" y="1234440"/>
            <a:ext cx="269748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0" y="1362456"/>
            <a:ext cx="24597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ENCOUNTERS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693408" y="1755648"/>
            <a:ext cx="2423160" cy="0"/>
          </a:xfrm>
          <a:prstGeom prst="line">
            <a:avLst/>
          </a:prstGeom>
          <a:ln w="19050">
            <a:solidFill>
              <a:srgbClr val="2F8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665976" y="1892808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93408" y="1906524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87768" y="1883664"/>
            <a:ext cx="1865376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/encounters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87768" y="2121408"/>
            <a:ext cx="1865376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List encounters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65976" y="2432304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93408" y="2446020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87768" y="2423160"/>
            <a:ext cx="1865376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/encounters/{id}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87768" y="2660904"/>
            <a:ext cx="1865376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Encounter detail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65976" y="2971800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E6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93408" y="2985516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A69B4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87768" y="2962656"/>
            <a:ext cx="1865376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/encounters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87768" y="3200400"/>
            <a:ext cx="1865376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Create encounter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65976" y="3511296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E6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93408" y="3525012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A69B4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87768" y="3502152"/>
            <a:ext cx="1865376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/encounters/{id}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87768" y="3739896"/>
            <a:ext cx="1865376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Update encounter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665976" y="4050791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93408" y="4064507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87768" y="4041648"/>
            <a:ext cx="1865376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/encounters/patient/{id}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87768" y="4279392"/>
            <a:ext cx="1865376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Patient history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454896" y="1234440"/>
            <a:ext cx="2212848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573768" y="1362456"/>
            <a:ext cx="1975104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ANALYTICS &amp; REPORTS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592056" y="1755648"/>
            <a:ext cx="1938528" cy="0"/>
          </a:xfrm>
          <a:prstGeom prst="line">
            <a:avLst/>
          </a:prstGeom>
          <a:ln w="19050">
            <a:solidFill>
              <a:srgbClr val="E199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9564624" y="1892808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592055" y="1906524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86416" y="1883664"/>
            <a:ext cx="1380743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/analytics/kpis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86416" y="2121408"/>
            <a:ext cx="1380743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Summary metrics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564624" y="2432304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592055" y="2446020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86416" y="2423160"/>
            <a:ext cx="1380743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/analytics/trends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86416" y="2660904"/>
            <a:ext cx="1380743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Admission trends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564624" y="2971800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592055" y="2985516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86416" y="2962656"/>
            <a:ext cx="1380743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/analytics/readmissions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86416" y="3200400"/>
            <a:ext cx="1380743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Readmission rates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564624" y="3511296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592055" y="3525012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86416" y="3502152"/>
            <a:ext cx="1380743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/analytics/medication-impact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86416" y="3739896"/>
            <a:ext cx="1380743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Drug analysis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564624" y="4050791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592055" y="4064507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86416" y="4041648"/>
            <a:ext cx="1380743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/reports/csv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86416" y="4279392"/>
            <a:ext cx="1380743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CSV export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564624" y="4590288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592055" y="4604003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186416" y="4581144"/>
            <a:ext cx="1380743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/reports/excel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86416" y="4818888"/>
            <a:ext cx="1380743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Excel export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564624" y="5129783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592055" y="5143499"/>
            <a:ext cx="51206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186416" y="5120640"/>
            <a:ext cx="1380743" cy="2651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69" b="1">
                <a:solidFill>
                  <a:srgbClr val="2A3544"/>
                </a:solidFill>
                <a:latin typeface="Aptos"/>
              </a:defRPr>
            </a:pPr>
            <a:r>
              <a:t>/reports/summary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86416" y="5358383"/>
            <a:ext cx="1380743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8368" y="5961888"/>
            <a:ext cx="1097280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API contract: validate payloads with typed schemas • return consistent status codes • paginate large lists • document through OpenAPI / Swagger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88136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442"/>
                </a:solidFill>
                <a:latin typeface="Aptos"/>
              </a:defRPr>
            </a:pPr>
            <a:r>
              <a:t>Streamlit dashboard: four user-facing workspaces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786384"/>
            <a:ext cx="658368" cy="50292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694944"/>
            <a:ext cx="97840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37182"/>
                </a:solidFill>
                <a:latin typeface="Aptos"/>
              </a:defRPr>
            </a:pPr>
            <a:r>
              <a:t>Dedicated login flow for admin, doctor and analyst accounts; widgets adapt to role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1016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2179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HEALTHCARE PATIENT MANAGEMENT SYSTEM  •  CAPSTONE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74536"/>
            <a:ext cx="9601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37182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544068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234440"/>
            <a:ext cx="91440" cy="2103120"/>
          </a:xfrm>
          <a:prstGeom prst="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380744"/>
            <a:ext cx="50749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442"/>
                </a:solidFill>
                <a:latin typeface="Aptos"/>
              </a:defRPr>
            </a:pPr>
            <a:r>
              <a:t>01  EXECUTIVE KPI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856232"/>
            <a:ext cx="4983480" cy="1325880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Patients 71.5K • encounters 101.7K • average stay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30-day readmission and in-hospital mortality rates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Monthly admissions • stay length by age bracket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34440"/>
            <a:ext cx="544068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34440"/>
            <a:ext cx="91440" cy="2103120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380744"/>
            <a:ext cx="50749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442"/>
                </a:solidFill>
                <a:latin typeface="Aptos"/>
              </a:defRPr>
            </a:pPr>
            <a:r>
              <a:t>02  PATIENT &amp; ENCOUNTER CRUD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856232"/>
            <a:ext cx="4983480" cy="1325880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Search by ID, race, gender and age bracket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Paginate 100–500 records per page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Create, edit and delete with refresh after mutation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80"/>
            <a:ext cx="544068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611880"/>
            <a:ext cx="91440" cy="2103120"/>
          </a:xfrm>
          <a:prstGeom prst="rect">
            <a:avLst/>
          </a:prstGeom>
          <a:solidFill>
            <a:srgbClr val="2F8F61"/>
          </a:solidFill>
          <a:ln>
            <a:solidFill>
              <a:srgbClr val="2F8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758184"/>
            <a:ext cx="50749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442"/>
                </a:solidFill>
                <a:latin typeface="Aptos"/>
              </a:defRPr>
            </a:pPr>
            <a:r>
              <a:t>03  CLINICAL ANALYTICS &amp; 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233672"/>
            <a:ext cx="4983480" cy="1325880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Readmission by diagnosis and length-of-stay drivers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Medication regimen and insulin dosage comparisons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Use careful interpretation; associations are not causation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11880"/>
            <a:ext cx="544068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611880"/>
            <a:ext cx="91440" cy="2103120"/>
          </a:xfrm>
          <a:prstGeom prst="rect">
            <a:avLst/>
          </a:prstGeom>
          <a:solidFill>
            <a:srgbClr val="E1992F"/>
          </a:solidFill>
          <a:ln>
            <a:solidFill>
              <a:srgbClr val="E19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758184"/>
            <a:ext cx="50749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22442"/>
                </a:solidFill>
                <a:latin typeface="Aptos"/>
              </a:defRPr>
            </a:pPr>
            <a:r>
              <a:t>04  REPORTS &amp; EXPORTS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233672"/>
            <a:ext cx="4983480" cy="1325880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Cached CSV and Excel exports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Executive summary and data-quality metrics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Audit trails for sensitive record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961888"/>
            <a:ext cx="1088136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Interaction pattern: authenticate → render role-aware navigation → query cached data → validate mutation → refresh affected views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88136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442"/>
                </a:solidFill>
                <a:latin typeface="Aptos"/>
              </a:defRPr>
            </a:pPr>
            <a:r>
              <a:t>Performance &amp;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786384"/>
            <a:ext cx="658368" cy="50292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694944"/>
            <a:ext cx="97840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37182"/>
                </a:solidFill>
                <a:latin typeface="Aptos"/>
              </a:defRPr>
            </a:pPr>
            <a:r>
              <a:t>Reported benchmark values with application-level and database-level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1016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2179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HEALTHCARE PATIENT MANAGEMENT SYSTEM  •  CAPSTONE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74536"/>
            <a:ext cx="9601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37182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43000"/>
            <a:ext cx="256032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143000"/>
            <a:ext cx="2560320" cy="64008"/>
          </a:xfrm>
          <a:prstGeom prst="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1307592"/>
            <a:ext cx="1482970" cy="4955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2A69B4"/>
                </a:solidFill>
                <a:latin typeface="Aptos"/>
              </a:defRPr>
            </a:pPr>
            <a:r>
              <a:rPr dirty="0"/>
              <a:t>57.2 s</a:t>
            </a:r>
            <a:r>
              <a:rPr lang="en-US" sz="1100" dirty="0"/>
              <a:t>(</a:t>
            </a:r>
            <a:r>
              <a:rPr lang="en-US" sz="1100" dirty="0" err="1"/>
              <a:t>approx</a:t>
            </a:r>
            <a:r>
              <a:rPr lang="en-US" sz="1100" dirty="0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828800"/>
            <a:ext cx="2340863" cy="3017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ETL execution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1143000"/>
            <a:ext cx="256032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47288" y="1143000"/>
            <a:ext cx="2560320" cy="64008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57016" y="1307592"/>
            <a:ext cx="2340863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009196"/>
                </a:solidFill>
                <a:latin typeface="Aptos"/>
              </a:defRPr>
            </a:pPr>
            <a:r>
              <a:t>1,779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1828800"/>
            <a:ext cx="2340863" cy="3017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records / second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143000"/>
            <a:ext cx="256032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27648" y="1143000"/>
            <a:ext cx="2560320" cy="64008"/>
          </a:xfrm>
          <a:prstGeom prst="rect">
            <a:avLst/>
          </a:prstGeom>
          <a:solidFill>
            <a:srgbClr val="2F8F61"/>
          </a:solidFill>
          <a:ln>
            <a:solidFill>
              <a:srgbClr val="2F8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7376" y="1307592"/>
            <a:ext cx="2340863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2F8F61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1828800"/>
            <a:ext cx="2340863" cy="3017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reported cleanliness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08007" y="1143000"/>
            <a:ext cx="256032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08007" y="1143000"/>
            <a:ext cx="2560320" cy="64008"/>
          </a:xfrm>
          <a:prstGeom prst="rect">
            <a:avLst/>
          </a:prstGeom>
          <a:solidFill>
            <a:srgbClr val="E1992F"/>
          </a:solidFill>
          <a:ln>
            <a:solidFill>
              <a:srgbClr val="E19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17735" y="1307592"/>
            <a:ext cx="2340863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E1992F"/>
                </a:solidFill>
                <a:latin typeface="Aptos"/>
              </a:defRPr>
            </a:pPr>
            <a:r>
              <a:t>69 MB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5" y="1828800"/>
            <a:ext cx="2340863" cy="3017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22442"/>
                </a:solidFill>
                <a:latin typeface="Aptos"/>
              </a:defRPr>
            </a:pPr>
            <a:r>
              <a:t>database size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816352"/>
            <a:ext cx="539496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2816352"/>
            <a:ext cx="64008" cy="2651760"/>
          </a:xfrm>
          <a:prstGeom prst="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2935224"/>
            <a:ext cx="5102352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442"/>
                </a:solidFill>
                <a:latin typeface="Aptos"/>
              </a:defRPr>
            </a:pPr>
            <a:r>
              <a:t>Data and query efficiency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3364992"/>
            <a:ext cx="4846320" cy="1874519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Bulk insert in 10,000-record batches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Primary/foreign-key indexes for joins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Pagination for 70k+ patient records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Reusable database sessions / connection handling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2816352"/>
            <a:ext cx="539496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99632" y="2816352"/>
            <a:ext cx="64008" cy="2651760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2935224"/>
            <a:ext cx="5102352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442"/>
                </a:solidFill>
                <a:latin typeface="Aptos"/>
              </a:defRPr>
            </a:pPr>
            <a:r>
              <a:t>UI and API efficiency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364992"/>
            <a:ext cx="4846320" cy="1874519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@st.cache_resource for one-time DB setup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@st.cache_data(ttl=300) for analytics results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FastAPI async endpoints where I/O benefits</a:t>
            </a:r>
          </a:p>
          <a:p>
            <a:pPr>
              <a:spcAft>
                <a:spcPts val="700"/>
              </a:spcAft>
              <a:defRPr sz="1100">
                <a:solidFill>
                  <a:srgbClr val="2A3544"/>
                </a:solidFill>
                <a:latin typeface="Aptos"/>
              </a:defRPr>
            </a:pPr>
            <a:r>
              <a:t>•  Cached exports and selective query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806440"/>
            <a:ext cx="10789920" cy="36576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Benchmark note: runtime depends on hardware, indexes, cache state and dataset version; rerun with a repeatable test protocol before making SLA claims.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88136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442"/>
                </a:solidFill>
                <a:latin typeface="Aptos"/>
              </a:defRPr>
            </a:pPr>
            <a:r>
              <a:t>Challenges encountered &amp; engineering fixes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786384"/>
            <a:ext cx="658368" cy="50292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694944"/>
            <a:ext cx="97840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37182"/>
                </a:solidFill>
                <a:latin typeface="Aptos"/>
              </a:defRPr>
            </a:pPr>
            <a:r>
              <a:t>Troubleshooting focused on repeatability, data integrity and responsive UI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1016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2179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HEALTHCARE PATIENT MANAGEMENT SYSTEM  •  CAPSTONE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74536"/>
            <a:ext cx="9601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37182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34924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1399032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E6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1412748"/>
            <a:ext cx="42062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A69B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399032"/>
            <a:ext cx="4343400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2442"/>
                </a:solidFill>
                <a:latin typeface="Aptos"/>
              </a:defRPr>
            </a:pPr>
            <a:r>
              <a:t>MODULE IMPORT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856232"/>
            <a:ext cx="4892040" cy="4846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A3544"/>
                </a:solidFill>
                <a:latin typeface="Aptos"/>
              </a:defRPr>
            </a:pPr>
            <a:r>
              <a:t>PROBLEM  •  Python could not resolve the src package 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450592"/>
            <a:ext cx="4892040" cy="6217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2A69B4"/>
                </a:solidFill>
                <a:latin typeface="Aptos"/>
              </a:defRPr>
            </a:pPr>
            <a:r>
              <a:t>FIX  •  Added a controlled project-root path / corrected package imports at startup.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34440"/>
            <a:ext cx="534924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28232" y="1399032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E1F5F4"/>
          </a:solidFill>
          <a:ln>
            <a:solidFill>
              <a:srgbClr val="E1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1412748"/>
            <a:ext cx="42062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919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1399032"/>
            <a:ext cx="4343400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2442"/>
                </a:solidFill>
                <a:latin typeface="Aptos"/>
              </a:defRPr>
            </a:pPr>
            <a:r>
              <a:t>SILENT ETL FAILURES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1856232"/>
            <a:ext cx="4892040" cy="4846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A3544"/>
                </a:solidFill>
                <a:latin typeface="Aptos"/>
              </a:defRPr>
            </a:pPr>
            <a:r>
              <a:t>PROBLEM  •  Pipeline ran with little visible progress or diagnostic output.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450592"/>
            <a:ext cx="4892040" cy="6217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009196"/>
                </a:solidFill>
                <a:latin typeface="Aptos"/>
              </a:defRPr>
            </a:pPr>
            <a:r>
              <a:t>FIX  •  Activated the virtual environment; added run_etl.py with console logging and counts.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66160"/>
            <a:ext cx="534924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58952" y="3730752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FCEBEC"/>
          </a:solidFill>
          <a:ln>
            <a:solidFill>
              <a:srgbClr val="F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" y="3744468"/>
            <a:ext cx="42062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BE414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3730752"/>
            <a:ext cx="4343400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2442"/>
                </a:solidFill>
                <a:latin typeface="Aptos"/>
              </a:defRPr>
            </a:pPr>
            <a:r>
              <a:t>DUPLICATE KEY 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187952"/>
            <a:ext cx="4892040" cy="4846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A3544"/>
                </a:solidFill>
                <a:latin typeface="Aptos"/>
              </a:defRPr>
            </a:pPr>
            <a:r>
              <a:t>PROBLEM  •  UNIQUE constraint failed for encounters.encounter_id.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782312"/>
            <a:ext cx="4892040" cy="6217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BE4149"/>
                </a:solidFill>
                <a:latin typeface="Aptos"/>
              </a:defRPr>
            </a:pPr>
            <a:r>
              <a:t>FIX  •  Rebuilt stale test DB where appropriate; added idempotent insert/upsert checks.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566160"/>
            <a:ext cx="534924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28232" y="3730752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55664" y="3744468"/>
            <a:ext cx="420624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3730752"/>
            <a:ext cx="4343400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22442"/>
                </a:solidFill>
                <a:latin typeface="Aptos"/>
              </a:defRPr>
            </a:pPr>
            <a:r>
              <a:t>UI LAG &amp; SLOW QUERIES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4187952"/>
            <a:ext cx="4892040" cy="4846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A3544"/>
                </a:solidFill>
                <a:latin typeface="Aptos"/>
              </a:defRPr>
            </a:pPr>
            <a:r>
              <a:t>PROBLEM  •  Streamlit reran expensive queries after each interaction.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4782312"/>
            <a:ext cx="4892040" cy="6217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FIX  •  Cached stable resources and analytics data; target response reduced to under 200 ms.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16752"/>
            <a:ext cx="1078992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Engineering principle: make failures observable, reruns safe and performance measurable.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88136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442"/>
                </a:solidFill>
                <a:latin typeface="Aptos"/>
              </a:defRPr>
            </a:pPr>
            <a:r>
              <a:t>Technology stack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786384"/>
            <a:ext cx="658368" cy="50292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694944"/>
            <a:ext cx="97840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37182"/>
                </a:solidFill>
                <a:latin typeface="Aptos"/>
              </a:defRPr>
            </a:pPr>
            <a:r>
              <a:t>Selected for rapid delivery, a compact deployment footprint and a clear API/data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1016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2179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HEALTHCARE PATIENT MANAGEMENT SYSTEM  •  CAPSTONE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74536"/>
            <a:ext cx="9601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37182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260604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252728" y="150876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solidFill>
              <a:srgbClr val="E6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522475"/>
            <a:ext cx="1179576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A69B4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75104"/>
            <a:ext cx="2286000" cy="4114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700" b="1">
                <a:solidFill>
                  <a:srgbClr val="122442"/>
                </a:solidFill>
                <a:latin typeface="Aptos"/>
              </a:defRPr>
            </a:pPr>
            <a:r>
              <a:t>FastAPI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5528" y="2542032"/>
            <a:ext cx="2148840" cy="0"/>
          </a:xfrm>
          <a:prstGeom prst="line">
            <a:avLst/>
          </a:prstGeom>
          <a:ln w="20320">
            <a:solidFill>
              <a:srgbClr val="2A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9808" y="2788920"/>
            <a:ext cx="2267712" cy="2331720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Async/await for I/O concurrency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Automatic OpenAPI / Swagger docs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Type hints and request validation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Dependency injection for shared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7288" y="1298448"/>
            <a:ext cx="260604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33087" y="150876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E1F5F4"/>
          </a:solidFill>
          <a:ln>
            <a:solidFill>
              <a:srgbClr val="E1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60520" y="1522475"/>
            <a:ext cx="1179576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009196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1975104"/>
            <a:ext cx="2286000" cy="4114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700" b="1">
                <a:solidFill>
                  <a:srgbClr val="122442"/>
                </a:solidFill>
                <a:latin typeface="Aptos"/>
              </a:defRPr>
            </a:pPr>
            <a:r>
              <a:t>Streamlit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75887" y="2542032"/>
            <a:ext cx="2148841" cy="0"/>
          </a:xfrm>
          <a:prstGeom prst="line">
            <a:avLst/>
          </a:prstGeom>
          <a:ln w="2032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30168" y="2788920"/>
            <a:ext cx="2267712" cy="2331720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Python-first interactive UI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Forms, tables, filters and downloads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Session state for authentication context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Built-in resource and data caching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1298448"/>
            <a:ext cx="260604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13448" y="150876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1522475"/>
            <a:ext cx="1179576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2F8F61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975104"/>
            <a:ext cx="2286000" cy="4114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700" b="1">
                <a:solidFill>
                  <a:srgbClr val="122442"/>
                </a:solidFill>
                <a:latin typeface="Aptos"/>
              </a:defRPr>
            </a:pPr>
            <a:r>
              <a:t>SQLite + SQLAlchemy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56248" y="2542032"/>
            <a:ext cx="2148840" cy="0"/>
          </a:xfrm>
          <a:prstGeom prst="line">
            <a:avLst/>
          </a:prstGeom>
          <a:ln w="20320">
            <a:solidFill>
              <a:srgbClr val="2F8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10528" y="2788920"/>
            <a:ext cx="2267712" cy="2331720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Single-file, zero-config deployment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Transactions and relational constraints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ORM models and relationship mapping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Good fit for local/single-writer workloads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08007" y="1298448"/>
            <a:ext cx="260604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893807" y="150876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FCF4E2"/>
          </a:solidFill>
          <a:ln>
            <a:solidFill>
              <a:srgbClr val="FCF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21239" y="1522475"/>
            <a:ext cx="1179576" cy="25603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E1992F"/>
                </a:solidFill>
                <a:latin typeface="Aptos"/>
              </a:defRPr>
            </a:pPr>
            <a:r>
              <a:t>ETL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599" y="1975104"/>
            <a:ext cx="2286000" cy="4114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700" b="1">
                <a:solidFill>
                  <a:srgbClr val="122442"/>
                </a:solidFill>
                <a:latin typeface="Aptos"/>
              </a:defRPr>
            </a:pPr>
            <a:r>
              <a:t>Python + Pandas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36607" y="2542032"/>
            <a:ext cx="2148840" cy="0"/>
          </a:xfrm>
          <a:prstGeom prst="line">
            <a:avLst/>
          </a:prstGeom>
          <a:ln w="20320">
            <a:solidFill>
              <a:srgbClr val="E199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390887" y="2788920"/>
            <a:ext cx="2267712" cy="2331720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Vectorized cleaning and normalization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Schema and data-quality validation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Batch-oriented database writes</a:t>
            </a:r>
          </a:p>
          <a:p>
            <a:pPr>
              <a:spcAft>
                <a:spcPts val="700"/>
              </a:spcAft>
              <a:defRPr sz="1000">
                <a:solidFill>
                  <a:srgbClr val="2A3544"/>
                </a:solidFill>
                <a:latin typeface="Aptos"/>
              </a:defRPr>
            </a:pPr>
            <a:r>
              <a:t>•  Logging and repeatable pipeline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Scaling consideration: for multi-instance deployment, concurrent heavy writes or strict availability requirements, evaluate PostgreSQL and a production-grade identity provider.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88136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22442"/>
                </a:solidFill>
                <a:latin typeface="Aptos"/>
              </a:defRPr>
            </a:pPr>
            <a:r>
              <a:t>Testing &amp; quality assurance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786384"/>
            <a:ext cx="658368" cy="50292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694944"/>
            <a:ext cx="97840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37182"/>
                </a:solidFill>
                <a:latin typeface="Aptos"/>
              </a:defRPr>
            </a:pPr>
            <a:r>
              <a:t>Test strategy spans ingestion, persistence, authorization, API behavior and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1016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2179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37182"/>
                </a:solidFill>
                <a:latin typeface="Aptos"/>
              </a:defRPr>
            </a:pPr>
            <a:r>
              <a:t>HEALTHCARE PATIENT MANAGEMENT SYSTEM  •  CAPSTONE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74536"/>
            <a:ext cx="960120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37182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34440"/>
            <a:ext cx="516636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234440"/>
            <a:ext cx="64008" cy="4526280"/>
          </a:xfrm>
          <a:prstGeom prst="rect">
            <a:avLst/>
          </a:prstGeom>
          <a:solidFill>
            <a:srgbClr val="2A69B4"/>
          </a:solidFill>
          <a:ln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53312"/>
            <a:ext cx="4873752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442"/>
                </a:solidFill>
                <a:latin typeface="Aptos"/>
              </a:defRPr>
            </a:pPr>
            <a:r>
              <a:t>Test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4526280" cy="3474720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A3544"/>
                </a:solidFill>
                <a:latin typeface="Aptos"/>
              </a:defRPr>
            </a:pPr>
            <a:r>
              <a:t>•  test_etl.py — source parsing, row counts and repeat runs</a:t>
            </a:r>
          </a:p>
          <a:p>
            <a:pPr>
              <a:spcAft>
                <a:spcPts val="700"/>
              </a:spcAft>
              <a:defRPr sz="1200">
                <a:solidFill>
                  <a:srgbClr val="2A3544"/>
                </a:solidFill>
                <a:latin typeface="Aptos"/>
              </a:defRPr>
            </a:pPr>
            <a:r>
              <a:t>•  test_database.py — ORM mappings, schema and constraints</a:t>
            </a:r>
          </a:p>
          <a:p>
            <a:pPr>
              <a:spcAft>
                <a:spcPts val="700"/>
              </a:spcAft>
              <a:defRPr sz="1200">
                <a:solidFill>
                  <a:srgbClr val="2A3544"/>
                </a:solidFill>
                <a:latin typeface="Aptos"/>
              </a:defRPr>
            </a:pPr>
            <a:r>
              <a:t>•  test_data_quality.py — nulls, domains and referential integrity</a:t>
            </a:r>
          </a:p>
          <a:p>
            <a:pPr>
              <a:spcAft>
                <a:spcPts val="700"/>
              </a:spcAft>
              <a:defRPr sz="1200">
                <a:solidFill>
                  <a:srgbClr val="2A3544"/>
                </a:solidFill>
                <a:latin typeface="Aptos"/>
              </a:defRPr>
            </a:pPr>
            <a:r>
              <a:t>•  test_rbac.py — allow/deny cases by role and endpoint</a:t>
            </a:r>
          </a:p>
          <a:p>
            <a:pPr>
              <a:spcAft>
                <a:spcPts val="700"/>
              </a:spcAft>
              <a:defRPr sz="1200">
                <a:solidFill>
                  <a:srgbClr val="2A3544"/>
                </a:solidFill>
                <a:latin typeface="Aptos"/>
              </a:defRPr>
            </a:pPr>
            <a:r>
              <a:t>•  test_api.py — status codes, validation and CRUD 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234440"/>
            <a:ext cx="548640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08192" y="1234440"/>
            <a:ext cx="64008" cy="4526280"/>
          </a:xfrm>
          <a:prstGeom prst="rect">
            <a:avLst/>
          </a:prstGeom>
          <a:solidFill>
            <a:srgbClr val="2F8F61"/>
          </a:solidFill>
          <a:ln>
            <a:solidFill>
              <a:srgbClr val="2F8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72783" y="1353312"/>
            <a:ext cx="5193792" cy="31089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22442"/>
                </a:solidFill>
                <a:latin typeface="Aptos"/>
              </a:defRPr>
            </a:pPr>
            <a:r>
              <a:t>Reported quality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10512"/>
            <a:ext cx="4846320" cy="3474720"/>
          </a:xfrm>
          <a:prstGeom prst="rect">
            <a:avLst/>
          </a:prstGeom>
          <a:noFill/>
        </p:spPr>
        <p:txBody>
          <a:bodyPr wrap="none" lIns="27432" tIns="18288" rIns="2743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A3544"/>
                </a:solidFill>
                <a:latin typeface="Aptos"/>
              </a:defRPr>
            </a:pPr>
            <a:r>
              <a:t>•  101,766 source encounters ingested successfully</a:t>
            </a:r>
          </a:p>
          <a:p>
            <a:pPr>
              <a:spcAft>
                <a:spcPts val="700"/>
              </a:spcAft>
              <a:defRPr sz="1200">
                <a:solidFill>
                  <a:srgbClr val="2A3544"/>
                </a:solidFill>
                <a:latin typeface="Aptos"/>
              </a:defRPr>
            </a:pPr>
            <a:r>
              <a:t>•  Patient-to-encounter relationships validated</a:t>
            </a:r>
          </a:p>
          <a:p>
            <a:pPr>
              <a:spcAft>
                <a:spcPts val="700"/>
              </a:spcAft>
              <a:defRPr sz="1200">
                <a:solidFill>
                  <a:srgbClr val="2A3544"/>
                </a:solidFill>
                <a:latin typeface="Aptos"/>
              </a:defRPr>
            </a:pPr>
            <a:r>
              <a:t>•  No duplicate encounter IDs in validation checks</a:t>
            </a:r>
          </a:p>
          <a:p>
            <a:pPr>
              <a:spcAft>
                <a:spcPts val="700"/>
              </a:spcAft>
              <a:defRPr sz="1200">
                <a:solidFill>
                  <a:srgbClr val="2A3544"/>
                </a:solidFill>
                <a:latin typeface="Aptos"/>
              </a:defRPr>
            </a:pPr>
            <a:r>
              <a:t>•  RBAC permission paths exercised</a:t>
            </a:r>
          </a:p>
          <a:p>
            <a:pPr>
              <a:spcAft>
                <a:spcPts val="700"/>
              </a:spcAft>
              <a:defRPr sz="1200">
                <a:solidFill>
                  <a:srgbClr val="2A3544"/>
                </a:solidFill>
                <a:latin typeface="Aptos"/>
              </a:defRPr>
            </a:pPr>
            <a:r>
              <a:t>•  API endpoints respond to expected requests</a:t>
            </a:r>
          </a:p>
          <a:p>
            <a:pPr>
              <a:spcAft>
                <a:spcPts val="700"/>
              </a:spcAft>
              <a:defRPr sz="1200">
                <a:solidFill>
                  <a:srgbClr val="2A3544"/>
                </a:solidFill>
                <a:latin typeface="Aptos"/>
              </a:defRPr>
            </a:pPr>
            <a:r>
              <a:t>•  100% data-quality score reported by project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8992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637182"/>
                </a:solidFill>
                <a:latin typeface="Aptos"/>
              </a:defRPr>
            </a:pPr>
            <a:r>
              <a:t>Quality score is only as meaningful as its rules: document denominator, null handling, rejected rows and the exact checks that define “clean”.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02920"/>
            <a:ext cx="107899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60BECD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05840"/>
            <a:ext cx="1984710" cy="541687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>
              <a:spcAft>
                <a:spcPts val="3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rPr lang="en-US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9328" y="1874519"/>
            <a:ext cx="7652568" cy="126496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CFDEEF"/>
                </a:solidFill>
                <a:latin typeface="Aptos"/>
              </a:defRPr>
            </a:pPr>
            <a:r>
              <a:rPr lang="en-US" dirty="0">
                <a:ea typeface="+mn-lt"/>
                <a:cs typeface="+mn-lt"/>
              </a:rPr>
              <a:t>The Healthcare Patient Management System centralizes patient records, encounters, and clinical data using </a:t>
            </a:r>
            <a:r>
              <a:rPr lang="en-US" dirty="0" err="1">
                <a:ea typeface="+mn-lt"/>
                <a:cs typeface="+mn-lt"/>
              </a:rPr>
              <a:t>FastAPI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Streamlit</a:t>
            </a:r>
            <a:r>
              <a:rPr lang="en-US" dirty="0">
                <a:ea typeface="+mn-lt"/>
                <a:cs typeface="+mn-lt"/>
              </a:rPr>
              <a:t>, and SQLite. It automates ETL processing and provides secure role-based access, interactive analytics, and report generation. Overall, the system improves healthcare data management and supports efficient clinical analysis and decision-making.</a:t>
            </a:r>
            <a:endParaRPr lang="en-US" dirty="0">
              <a:ea typeface="Calibri"/>
              <a:cs typeface="Calibri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17728" y="3476752"/>
            <a:ext cx="10451592" cy="0"/>
          </a:xfrm>
          <a:prstGeom prst="line">
            <a:avLst/>
          </a:prstGeom>
          <a:ln w="25400">
            <a:solidFill>
              <a:srgbClr val="00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0A62ACE-034F-789B-CAE6-2C25ADBEF552}"/>
              </a:ext>
            </a:extLst>
          </p:cNvPr>
          <p:cNvSpPr txBox="1"/>
          <p:nvPr/>
        </p:nvSpPr>
        <p:spPr>
          <a:xfrm>
            <a:off x="894783" y="4198598"/>
            <a:ext cx="589180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i="1">
                <a:solidFill>
                  <a:schemeClr val="bg1"/>
                </a:solidFill>
                <a:ea typeface="Calibri"/>
                <a:cs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Patient Management System - Capstone Project Review</dc:title>
  <dc:subject>13-slide technical presentation</dc:subject>
  <dc:creator>OpenAI</dc:creator>
  <cp:keywords>healthcare, FastAPI, Streamlit, SQLite, ETL, RBAC</cp:keywords>
  <dc:description>generated using python-pptx</dc:description>
  <cp:lastModifiedBy>Steve Canny</cp:lastModifiedBy>
  <cp:revision>46</cp:revision>
  <dcterms:created xsi:type="dcterms:W3CDTF">2013-01-27T09:14:16Z</dcterms:created>
  <dcterms:modified xsi:type="dcterms:W3CDTF">2026-10-13T04:15:25Z</dcterms:modified>
  <cp:category/>
</cp:coreProperties>
</file>