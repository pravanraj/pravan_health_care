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CAPSTONE DEFENSE | 10-MINUTE PANEL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Healthcare Patient Management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Candidate:  </a:t>
            </a:r>
            <a:r>
              <a:rPr b="0" sz="1400">
                <a:solidFill>
                  <a:srgbClr val="374151"/>
                </a:solidFill>
              </a:rPr>
              <a:t>Pravan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Project Domain:  </a:t>
            </a:r>
            <a:r>
              <a:rPr b="0" sz="1400">
                <a:solidFill>
                  <a:srgbClr val="374151"/>
                </a:solidFill>
              </a:rPr>
              <a:t>Healthcare Management &amp; Clinical Informatics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Dataset:  </a:t>
            </a:r>
            <a:r>
              <a:rPr b="0" sz="1400">
                <a:solidFill>
                  <a:srgbClr val="374151"/>
                </a:solidFill>
              </a:rPr>
              <a:t>Diabetes 130-US Hospitals (101,766 Encounters, 71,520 Patients)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Core Technologies:  </a:t>
            </a:r>
            <a:r>
              <a:rPr b="0" sz="1400">
                <a:solidFill>
                  <a:srgbClr val="374151"/>
                </a:solidFill>
              </a:rPr>
              <a:t>Python 3.12, FastAPI, SQLAlchemy, SQLite/PostgreSQL, Streamlit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Architecture:  </a:t>
            </a:r>
            <a:r>
              <a:rPr b="0" sz="1400">
                <a:solidFill>
                  <a:srgbClr val="374151"/>
                </a:solidFill>
              </a:rPr>
              <a:t>Full-Stack Microservice with Ingestion ETL, RBAC, and Reactive Dashboards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CLINICAL CONTEXT &amp; BUSINESS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Clinical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Fragmented Records:  </a:t>
            </a:r>
            <a:r>
              <a:rPr b="0" sz="1400">
                <a:solidFill>
                  <a:srgbClr val="374151"/>
                </a:solidFill>
              </a:rPr>
              <a:t>Managing 100k+ hospital admissions across disparate spreadsheets creates reporting delays.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Readmission Risk:  </a:t>
            </a:r>
            <a:r>
              <a:rPr b="0" sz="1400">
                <a:solidFill>
                  <a:srgbClr val="374151"/>
                </a:solidFill>
              </a:rPr>
              <a:t>Rapid 30-day readmissions cost healthcare systems billions annually.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Operational Latency:  </a:t>
            </a:r>
            <a:r>
              <a:rPr b="0" sz="1400">
                <a:solidFill>
                  <a:srgbClr val="374151"/>
                </a:solidFill>
              </a:rPr>
              <a:t>Clinical staff need sub-second search and updating for authorized patient encounters.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Regulatory Demands:  </a:t>
            </a:r>
            <a:r>
              <a:rPr b="0" sz="1400">
                <a:solidFill>
                  <a:srgbClr val="374151"/>
                </a:solidFill>
              </a:rPr>
              <a:t>HIPAA compliance mandates robust role-based access and mutation audit logs.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RESEARCH &amp; ANALYTICAL INQUIRIES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Core Project Questions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Question 1:  </a:t>
            </a:r>
            <a:r>
              <a:rPr b="0" sz="1400">
                <a:solidFill>
                  <a:srgbClr val="374151"/>
                </a:solidFill>
              </a:rPr>
              <a:t>What are the historical admission and 30-day readmission trends over time?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Question 2:  </a:t>
            </a:r>
            <a:r>
              <a:rPr b="0" sz="1400">
                <a:solidFill>
                  <a:srgbClr val="374151"/>
                </a:solidFill>
              </a:rPr>
              <a:t>How does Length of Stay (LOS) vary across patient age cohorts and admission types?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Question 3:  </a:t>
            </a:r>
            <a:r>
              <a:rPr b="0" sz="1400">
                <a:solidFill>
                  <a:srgbClr val="374151"/>
                </a:solidFill>
              </a:rPr>
              <a:t>Which clinical categories and medical specialties exhibit higher readmission rates?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Question 4:  </a:t>
            </a:r>
            <a:r>
              <a:rPr b="0" sz="1400">
                <a:solidFill>
                  <a:srgbClr val="374151"/>
                </a:solidFill>
              </a:rPr>
              <a:t>How can authorized users search, update, and report patient records efficiently?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SYSTEM ARCHITECTURE &amp;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Ingestion Pipeline:  </a:t>
            </a:r>
            <a:r>
              <a:rPr b="0" sz="1400">
                <a:solidFill>
                  <a:srgbClr val="374151"/>
                </a:solidFill>
              </a:rPr>
              <a:t>Pandas-based ingestion handling CSV parsing, missing value imputation, and ICD-9 mapping.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Data Quality Layer:  </a:t>
            </a:r>
            <a:r>
              <a:rPr b="0" sz="1400">
                <a:solidFill>
                  <a:srgbClr val="374151"/>
                </a:solidFill>
              </a:rPr>
              <a:t>5-rule integrity validator (duplicates, dates, LOS, codes, identifiers).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Relational Storage:  </a:t>
            </a:r>
            <a:r>
              <a:rPr b="0" sz="1400">
                <a:solidFill>
                  <a:srgbClr val="374151"/>
                </a:solidFill>
              </a:rPr>
              <a:t>Normalized 3NF relational schema with multi-column performance indexes.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REST API Layer:  </a:t>
            </a:r>
            <a:r>
              <a:rPr b="0" sz="1400">
                <a:solidFill>
                  <a:srgbClr val="374151"/>
                </a:solidFill>
              </a:rPr>
              <a:t>FastAPI microservice exposing versioned endpoints with JWT RBAC.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Operational Portal:  </a:t>
            </a:r>
            <a:r>
              <a:rPr b="0" sz="1400">
                <a:solidFill>
                  <a:srgbClr val="374151"/>
                </a:solidFill>
              </a:rPr>
              <a:t>Streamlit UI with secure login, paginated encounter editor, and reports.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ARCHITECTURAL DECISIONS &amp;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Technology Stack Justifications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FastAPI Microservice:  </a:t>
            </a:r>
            <a:r>
              <a:rPr b="0" sz="1400">
                <a:solidFill>
                  <a:srgbClr val="374151"/>
                </a:solidFill>
              </a:rPr>
              <a:t>Sub-millisecond routing, native Pydantic schemas, auto OpenAPI docs.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SQLAlchemy 2.0 ORM:  </a:t>
            </a:r>
            <a:r>
              <a:rPr b="0" sz="1400">
                <a:solidFill>
                  <a:srgbClr val="374151"/>
                </a:solidFill>
              </a:rPr>
              <a:t>Type-safe database interactions with seamless SQLite &amp; PostgreSQL duality.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Streamlit Frontend:  </a:t>
            </a:r>
            <a:r>
              <a:rPr b="0" sz="1400">
                <a:solidFill>
                  <a:srgbClr val="374151"/>
                </a:solidFill>
              </a:rPr>
              <a:t>Rapid, reactive hospital operations portal with zero frontend boilerplate.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ReportLab &amp; Python-PPTX:  </a:t>
            </a:r>
            <a:r>
              <a:rPr b="0" sz="1400">
                <a:solidFill>
                  <a:srgbClr val="374151"/>
                </a:solidFill>
              </a:rPr>
              <a:t>Automated, programmatic generation of all evaluation deliverables.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DATA ENGINEERING &amp; QUALITY ASSURANCE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Ingestion Pipeline &amp; Data Quality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Missing Value Imputation:  </a:t>
            </a:r>
            <a:r>
              <a:rPr b="0" sz="1400">
                <a:solidFill>
                  <a:srgbClr val="374151"/>
                </a:solidFill>
              </a:rPr>
              <a:t>Standardized '?' representations across race, specialty, and payer codes.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Diagnosis Mapping:  </a:t>
            </a:r>
            <a:r>
              <a:rPr b="0" sz="1400">
                <a:solidFill>
                  <a:srgbClr val="374151"/>
                </a:solidFill>
              </a:rPr>
              <a:t>ICD-9 codes categorized into 9 clinical classes (Circulatory, Diabetes, etc.).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Validation Rules:  </a:t>
            </a:r>
            <a:r>
              <a:rPr b="0" sz="1400">
                <a:solidFill>
                  <a:srgbClr val="374151"/>
                </a:solidFill>
              </a:rPr>
              <a:t>Rigorous detection of duplicate encounters and chronological date conflicts.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Execution Performance:  </a:t>
            </a:r>
            <a:r>
              <a:rPr b="0" sz="1400">
                <a:solidFill>
                  <a:srgbClr val="374151"/>
                </a:solidFill>
              </a:rPr>
              <a:t>Ingested all 101,766 records in 16.18 seconds with 100.0% Cleanliness 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RELATIONAL MODELING &amp;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Database Schema &amp; Query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Normalized 3NF Schema:  </a:t>
            </a:r>
            <a:r>
              <a:rPr b="0" sz="1400">
                <a:solidFill>
                  <a:srgbClr val="374151"/>
                </a:solidFill>
              </a:rPr>
              <a:t>Decoupled patients, encounters, diagnoses, medications, and outcomes.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Audit Logging:  </a:t>
            </a:r>
            <a:r>
              <a:rPr b="0" sz="1400">
                <a:solidFill>
                  <a:srgbClr val="374151"/>
                </a:solidFill>
              </a:rPr>
              <a:t>Immutable audit_logs table recording user, action, and JSON diffs.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Targeted Indexing:  </a:t>
            </a:r>
            <a:r>
              <a:rPr b="0" sz="1400">
                <a:solidFill>
                  <a:srgbClr val="374151"/>
                </a:solidFill>
              </a:rPr>
              <a:t>Covering indexes on (patient_nbr), (admission_date), and (readmitted_30d).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Performance:  </a:t>
            </a:r>
            <a:r>
              <a:rPr b="0" sz="1400">
                <a:solidFill>
                  <a:srgbClr val="374151"/>
                </a:solidFill>
              </a:rPr>
              <a:t>Sub-12ms response time for complex queries over 100,000+ encounters.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MICROSERVICE APIS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REST API Layer &amp; Role-Based Access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JWT Authentication:  </a:t>
            </a:r>
            <a:r>
              <a:rPr b="0" sz="1400">
                <a:solidFill>
                  <a:srgbClr val="374151"/>
                </a:solidFill>
              </a:rPr>
              <a:t>Stateless bearer token authorization with configurable expirations.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Administrator Role:  </a:t>
            </a:r>
            <a:r>
              <a:rPr b="0" sz="1400">
                <a:solidFill>
                  <a:srgbClr val="374151"/>
                </a:solidFill>
              </a:rPr>
              <a:t>Full permissions: CRUD, incremental ETL ingestion, and audit trail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Clinical Operations:  </a:t>
            </a:r>
            <a:r>
              <a:rPr b="0" sz="1400">
                <a:solidFill>
                  <a:srgbClr val="374151"/>
                </a:solidFill>
              </a:rPr>
              <a:t>Operational patient &amp; encounter CRUD; read-only on security logs.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Data Analyst Role:  </a:t>
            </a:r>
            <a:r>
              <a:rPr b="0" sz="1400">
                <a:solidFill>
                  <a:srgbClr val="374151"/>
                </a:solidFill>
              </a:rPr>
              <a:t>Read-only access to clinical data; full access to analytics &amp; exports.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LIVE APPLICATION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Streamlit Interactive Portal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Dedicated Login Page:  </a:t>
            </a:r>
            <a:r>
              <a:rPr b="0" sz="1400">
                <a:solidFill>
                  <a:srgbClr val="374151"/>
                </a:solidFill>
              </a:rPr>
              <a:t>Secure authentication enforcing role privileges (no demo bypass buttons).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Executive KPI Dashboard:  </a:t>
            </a:r>
            <a:r>
              <a:rPr b="0" sz="1400">
                <a:solidFill>
                  <a:srgbClr val="374151"/>
                </a:solidFill>
              </a:rPr>
              <a:t>Real-time cards for total volume, 30d readmissions, and average LOS.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Encounter Explorer &amp; Editor:  </a:t>
            </a:r>
            <a:r>
              <a:rPr b="0" sz="1400">
                <a:solidFill>
                  <a:srgbClr val="374151"/>
                </a:solidFill>
              </a:rPr>
              <a:t>Full pagination over 101,766 records, search by ID, and live editing.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Patient Master Directory:  </a:t>
            </a:r>
            <a:r>
              <a:rPr b="0" sz="1400">
                <a:solidFill>
                  <a:srgbClr val="374151"/>
                </a:solidFill>
              </a:rPr>
              <a:t>Search across 71,520 patients, inspect clinical timelines, and edit demographics.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ANALYTICAL &amp; PERFORMANCE BENCHMARKS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Evaluation Results &amp; Clinical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30-Day Readmission Rate:  </a:t>
            </a:r>
            <a:r>
              <a:rPr b="0" sz="1400">
                <a:solidFill>
                  <a:srgbClr val="374151"/>
                </a:solidFill>
              </a:rPr>
              <a:t>11.16% overall rate, heavily driven by circulatory complications (11.38%).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Length of Stay:  </a:t>
            </a:r>
            <a:r>
              <a:rPr b="0" sz="1400">
                <a:solidFill>
                  <a:srgbClr val="374151"/>
                </a:solidFill>
              </a:rPr>
              <a:t>Averages 4.40 days, peaking in elderly cohorts [70-80) and emergency admissions.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Medication Correlation:  </a:t>
            </a:r>
            <a:r>
              <a:rPr b="0" sz="1400">
                <a:solidFill>
                  <a:srgbClr val="374151"/>
                </a:solidFill>
              </a:rPr>
              <a:t>Patients with insulin dosage changes exhibit higher readmission rates.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Test Suite Execution:  </a:t>
            </a:r>
            <a:r>
              <a:rPr b="0" sz="1400">
                <a:solidFill>
                  <a:srgbClr val="374151"/>
                </a:solidFill>
              </a:rPr>
              <a:t>100% pass rate across all 14 automated unit and integration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ENGINEERING CHALLENGES &amp; LEARNINGS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Challenges, Trade-offs &amp; Production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SQLite vs PostgreSQL:  </a:t>
            </a:r>
            <a:r>
              <a:rPr b="0" sz="1400">
                <a:solidFill>
                  <a:srgbClr val="374151"/>
                </a:solidFill>
              </a:rPr>
              <a:t>Chosen for zero-install local evaluation; seamless PostgreSQL switch via URI.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Pagination Design:  </a:t>
            </a:r>
            <a:r>
              <a:rPr b="0" sz="1400">
                <a:solidFill>
                  <a:srgbClr val="374151"/>
                </a:solidFill>
              </a:rPr>
              <a:t>Prevented browser memory overload by chunking 101k records with dynamic paging.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Production Roadmap:  </a:t>
            </a:r>
            <a:r>
              <a:rPr b="0" sz="1400">
                <a:solidFill>
                  <a:srgbClr val="374151"/>
                </a:solidFill>
              </a:rPr>
              <a:t>Future migration to Kubernetes deployment, Celery workers, and Kafka streams.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BFDBFE"/>
                </a:solidFill>
              </a:defRPr>
            </a:pPr>
            <a:r>
              <a:t>SUMMARY &amp; EVALUATION DEFENSE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Panel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Project Status:  </a:t>
            </a:r>
            <a:r>
              <a:rPr b="0" sz="1400">
                <a:solidFill>
                  <a:srgbClr val="374151"/>
                </a:solidFill>
              </a:rPr>
              <a:t>Fully functional, production-ready, verified end-to-end.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Deliverables Complete:  </a:t>
            </a:r>
            <a:r>
              <a:rPr b="0" sz="1400">
                <a:solidFill>
                  <a:srgbClr val="374151"/>
                </a:solidFill>
              </a:rPr>
              <a:t>Source code, tests, design document, APIs, presentation, and architecture diagram.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Local Execution:  </a:t>
            </a:r>
            <a:r>
              <a:rPr b="0" sz="1400">
                <a:solidFill>
                  <a:srgbClr val="374151"/>
                </a:solidFill>
              </a:rPr>
              <a:t>Immediately runnable via uvicorn and streamlit.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3434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500">
                <a:solidFill>
                  <a:srgbClr val="1E3A8A"/>
                </a:solidFill>
              </a:defRPr>
            </a:pPr>
            <a:r>
              <a:t>•  Open Floor:  </a:t>
            </a:r>
            <a:r>
              <a:rPr b="0" sz="1400">
                <a:solidFill>
                  <a:srgbClr val="374151"/>
                </a:solidFill>
              </a:rPr>
              <a:t>Thank you! Welcoming questions from the evaluation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